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28016"/>
            <a:ext cx="384048" cy="384048"/>
          </a:xfrm>
          <a:prstGeom prst="ellipse">
            <a:avLst/>
          </a:prstGeom>
          <a:solidFill>
            <a:srgbClr val="CC00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4592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09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OS问题定位技能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8680" y="420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方案设计与实现原理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75120" y="164592"/>
            <a:ext cx="2194560" cy="329184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0" y="1645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面向AI Agent的系统性诊断框架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713232"/>
            <a:ext cx="84124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841248"/>
            <a:ext cx="45720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总体方案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1225296"/>
            <a:ext cx="256032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" y="1225296"/>
            <a:ext cx="45720" cy="868680"/>
          </a:xfrm>
          <a:prstGeom prst="rect">
            <a:avLst/>
          </a:prstGeom>
          <a:solidFill>
            <a:srgbClr val="CC000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89888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8680" y="12984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方法论驱动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68680" y="15453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四阶段法 + USE方法论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非随机试错，证据驱动假设验证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65760" y="2231136"/>
            <a:ext cx="256032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760" y="2231136"/>
            <a:ext cx="45720" cy="868680"/>
          </a:xfrm>
          <a:prstGeom prst="rect">
            <a:avLst/>
          </a:prstGeom>
          <a:solidFill>
            <a:srgbClr val="CC000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395728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3042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迭代诊断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68680" y="255117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最多4轮迭代闭环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快速扫描→定向收集→深度分析→验证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65760" y="3236976"/>
            <a:ext cx="2560320" cy="868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18"/>
          <p:cNvSpPr/>
          <p:nvPr/>
        </p:nvSpPr>
        <p:spPr>
          <a:xfrm>
            <a:off x="365760" y="3236976"/>
            <a:ext cx="45720" cy="868680"/>
          </a:xfrm>
          <a:prstGeom prst="rect">
            <a:avLst/>
          </a:prstGeom>
          <a:solidFill>
            <a:srgbClr val="CC00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01568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68680" y="33101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人机协同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68680" y="35570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AI负责分析建议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关键决策交由用户确认执行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3200400" y="841248"/>
            <a:ext cx="45720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8" name="Text 22"/>
          <p:cNvSpPr/>
          <p:nvPr/>
        </p:nvSpPr>
        <p:spPr>
          <a:xfrm>
            <a:off x="3337560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五层架构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200400" y="1225296"/>
            <a:ext cx="2926080" cy="457200"/>
          </a:xfrm>
          <a:prstGeom prst="rect">
            <a:avLst/>
          </a:prstGeom>
          <a:solidFill>
            <a:srgbClr val="99000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316736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547872" y="12435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指令层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3547872" y="14447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· 827行 · 执行流程/分类规则/输出协议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4526280" y="170078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▼</a:t>
            </a:r>
            <a:endParaRPr lang="en-US" sz="700" dirty="0"/>
          </a:p>
        </p:txBody>
      </p:sp>
      <p:sp>
        <p:nvSpPr>
          <p:cNvPr id="34" name="Shape 27"/>
          <p:cNvSpPr/>
          <p:nvPr/>
        </p:nvSpPr>
        <p:spPr>
          <a:xfrm>
            <a:off x="3255264" y="1792224"/>
            <a:ext cx="2816352" cy="457200"/>
          </a:xfrm>
          <a:prstGeom prst="rect">
            <a:avLst/>
          </a:prstGeom>
          <a:solidFill>
            <a:srgbClr val="CC0000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704" y="1883664"/>
            <a:ext cx="201168" cy="20116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602736" y="181051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知识层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3602736" y="201168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references/ · 11文档 · ~4920行 · 按需加载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4526280" y="226771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▼</a:t>
            </a:r>
            <a:endParaRPr lang="en-US" sz="700" dirty="0"/>
          </a:p>
        </p:txBody>
      </p:sp>
      <p:sp>
        <p:nvSpPr>
          <p:cNvPr id="39" name="Shape 31"/>
          <p:cNvSpPr/>
          <p:nvPr/>
        </p:nvSpPr>
        <p:spPr>
          <a:xfrm>
            <a:off x="3310128" y="2359152"/>
            <a:ext cx="2706624" cy="457200"/>
          </a:xfrm>
          <a:prstGeom prst="rect">
            <a:avLst/>
          </a:prstGeom>
          <a:solidFill>
            <a:srgbClr val="E53935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2450592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657600" y="237744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执行层</a:t>
            </a:r>
            <a:endParaRPr lang="en-US" sz="1050" dirty="0"/>
          </a:p>
        </p:txBody>
      </p:sp>
      <p:sp>
        <p:nvSpPr>
          <p:cNvPr id="42" name="Text 33"/>
          <p:cNvSpPr/>
          <p:nvPr/>
        </p:nvSpPr>
        <p:spPr>
          <a:xfrm>
            <a:off x="3657600" y="2578608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· 4脚本 · ~1408行 · 自动化诊断</a:t>
            </a:r>
            <a:endParaRPr lang="en-US" sz="750" dirty="0"/>
          </a:p>
        </p:txBody>
      </p:sp>
      <p:sp>
        <p:nvSpPr>
          <p:cNvPr id="43" name="Text 34"/>
          <p:cNvSpPr/>
          <p:nvPr/>
        </p:nvSpPr>
        <p:spPr>
          <a:xfrm>
            <a:off x="4526280" y="283464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▼</a:t>
            </a:r>
            <a:endParaRPr lang="en-US" sz="700" dirty="0"/>
          </a:p>
        </p:txBody>
      </p:sp>
      <p:sp>
        <p:nvSpPr>
          <p:cNvPr id="44" name="Shape 35"/>
          <p:cNvSpPr/>
          <p:nvPr/>
        </p:nvSpPr>
        <p:spPr>
          <a:xfrm>
            <a:off x="3364992" y="2926080"/>
            <a:ext cx="2596896" cy="457200"/>
          </a:xfrm>
          <a:prstGeom prst="rect">
            <a:avLst/>
          </a:prstGeom>
          <a:solidFill>
            <a:srgbClr val="EF5350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6432" y="3017520"/>
            <a:ext cx="201168" cy="20116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3712464" y="294436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输出层</a:t>
            </a:r>
            <a:endParaRPr lang="en-US" sz="1050" dirty="0"/>
          </a:p>
        </p:txBody>
      </p:sp>
      <p:sp>
        <p:nvSpPr>
          <p:cNvPr id="47" name="Text 37"/>
          <p:cNvSpPr/>
          <p:nvPr/>
        </p:nvSpPr>
        <p:spPr>
          <a:xfrm>
            <a:off x="3712464" y="31455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 · 报告模板 · 标准化输出</a:t>
            </a:r>
            <a:endParaRPr lang="en-US" sz="750" dirty="0"/>
          </a:p>
        </p:txBody>
      </p:sp>
      <p:sp>
        <p:nvSpPr>
          <p:cNvPr id="48" name="Text 38"/>
          <p:cNvSpPr/>
          <p:nvPr/>
        </p:nvSpPr>
        <p:spPr>
          <a:xfrm>
            <a:off x="4526280" y="34015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99999"/>
                </a:solidFill>
              </a:rPr>
              <a:t>▼</a:t>
            </a:r>
            <a:endParaRPr lang="en-US" sz="700" dirty="0"/>
          </a:p>
        </p:txBody>
      </p:sp>
      <p:sp>
        <p:nvSpPr>
          <p:cNvPr id="49" name="Shape 39"/>
          <p:cNvSpPr/>
          <p:nvPr/>
        </p:nvSpPr>
        <p:spPr>
          <a:xfrm>
            <a:off x="3419856" y="3493008"/>
            <a:ext cx="2487168" cy="457200"/>
          </a:xfrm>
          <a:prstGeom prst="rect">
            <a:avLst/>
          </a:prstGeom>
          <a:solidFill>
            <a:srgbClr val="EF9A9A"/>
          </a:solidFill>
          <a:ln/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1296" y="3584448"/>
            <a:ext cx="201168" cy="20116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3767328" y="351129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质量层</a:t>
            </a:r>
            <a:endParaRPr lang="en-US" sz="1050" dirty="0"/>
          </a:p>
        </p:txBody>
      </p:sp>
      <p:sp>
        <p:nvSpPr>
          <p:cNvPr id="52" name="Text 41"/>
          <p:cNvSpPr/>
          <p:nvPr/>
        </p:nvSpPr>
        <p:spPr>
          <a:xfrm>
            <a:off x="3767328" y="3712464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evals/ · 4个评估场景 · 可回归验证</a:t>
            </a:r>
            <a:endParaRPr lang="en-US" sz="750" dirty="0"/>
          </a:p>
        </p:txBody>
      </p:sp>
      <p:sp>
        <p:nvSpPr>
          <p:cNvPr id="53" name="Shape 42"/>
          <p:cNvSpPr/>
          <p:nvPr/>
        </p:nvSpPr>
        <p:spPr>
          <a:xfrm>
            <a:off x="6400800" y="841248"/>
            <a:ext cx="45720" cy="2560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4" name="Text 43"/>
          <p:cNvSpPr/>
          <p:nvPr/>
        </p:nvSpPr>
        <p:spPr>
          <a:xfrm>
            <a:off x="6537960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实现原理</a:t>
            </a:r>
            <a:endParaRPr lang="en-US" sz="1300" dirty="0"/>
          </a:p>
        </p:txBody>
      </p:sp>
      <p:pic>
        <p:nvPicPr>
          <p:cNvPr id="5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1261872"/>
            <a:ext cx="201168" cy="201168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6720840" y="12252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三重匹配识别</a:t>
            </a:r>
            <a:endParaRPr lang="en-US" sz="1000" dirty="0"/>
          </a:p>
        </p:txBody>
      </p:sp>
      <p:sp>
        <p:nvSpPr>
          <p:cNvPr id="57" name="Text 45"/>
          <p:cNvSpPr/>
          <p:nvPr/>
        </p:nvSpPr>
        <p:spPr>
          <a:xfrm>
            <a:off x="6720840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 + 日志正则 + 语义理解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自动分类4大问题类型</a:t>
            </a:r>
            <a:endParaRPr lang="en-US" sz="750" dirty="0"/>
          </a:p>
        </p:txBody>
      </p:sp>
      <p:sp>
        <p:nvSpPr>
          <p:cNvPr id="58" name="Shape 46"/>
          <p:cNvSpPr/>
          <p:nvPr/>
        </p:nvSpPr>
        <p:spPr>
          <a:xfrm>
            <a:off x="6446520" y="1773936"/>
            <a:ext cx="23774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ot"/>
          </a:ln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1901952"/>
            <a:ext cx="201168" cy="201168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6720840" y="18653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四阶段分析法</a:t>
            </a:r>
            <a:endParaRPr lang="en-US" sz="1000" dirty="0"/>
          </a:p>
        </p:txBody>
      </p:sp>
      <p:sp>
        <p:nvSpPr>
          <p:cNvPr id="61" name="Text 48"/>
          <p:cNvSpPr/>
          <p:nvPr/>
        </p:nvSpPr>
        <p:spPr>
          <a:xfrm>
            <a:off x="6720840" y="2066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根因调查 → 模式分析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假设测试 → 修复验证</a:t>
            </a:r>
            <a:endParaRPr lang="en-US" sz="750" dirty="0"/>
          </a:p>
        </p:txBody>
      </p:sp>
      <p:sp>
        <p:nvSpPr>
          <p:cNvPr id="62" name="Shape 49"/>
          <p:cNvSpPr/>
          <p:nvPr/>
        </p:nvSpPr>
        <p:spPr>
          <a:xfrm>
            <a:off x="6446520" y="2414016"/>
            <a:ext cx="23774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ot"/>
          </a:ln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520" y="2542032"/>
            <a:ext cx="201168" cy="201168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6720840" y="2505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多OS适配</a:t>
            </a:r>
            <a:endParaRPr lang="en-US" sz="1000" dirty="0"/>
          </a:p>
        </p:txBody>
      </p:sp>
      <p:sp>
        <p:nvSpPr>
          <p:cNvPr id="65" name="Text 51"/>
          <p:cNvSpPr/>
          <p:nvPr/>
        </p:nvSpPr>
        <p:spPr>
          <a:xfrm>
            <a:off x="6720840" y="27066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命令映射表 + 发行版自动检测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openEuler/CentOS/Ubuntu/macOS</a:t>
            </a:r>
            <a:endParaRPr lang="en-US" sz="750" dirty="0"/>
          </a:p>
        </p:txBody>
      </p:sp>
      <p:sp>
        <p:nvSpPr>
          <p:cNvPr id="66" name="Shape 52"/>
          <p:cNvSpPr/>
          <p:nvPr/>
        </p:nvSpPr>
        <p:spPr>
          <a:xfrm>
            <a:off x="6446520" y="3054096"/>
            <a:ext cx="23774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ot"/>
          </a:ln>
        </p:spPr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6520" y="3182112"/>
            <a:ext cx="201168" cy="201168"/>
          </a:xfrm>
          <a:prstGeom prst="rect">
            <a:avLst/>
          </a:prstGeom>
        </p:spPr>
      </p:pic>
      <p:sp>
        <p:nvSpPr>
          <p:cNvPr id="68" name="Text 53"/>
          <p:cNvSpPr/>
          <p:nvPr/>
        </p:nvSpPr>
        <p:spPr>
          <a:xfrm>
            <a:off x="6720840" y="31455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严重度评估</a:t>
            </a:r>
            <a:endParaRPr lang="en-US" sz="1000" dirty="0"/>
          </a:p>
        </p:txBody>
      </p:sp>
      <p:sp>
        <p:nvSpPr>
          <p:cNvPr id="69" name="Text 54"/>
          <p:cNvSpPr/>
          <p:nvPr/>
        </p:nvSpPr>
        <p:spPr>
          <a:xfrm>
            <a:off x="6720840" y="3346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5维矩阵 → P1/P2/P3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差异化响应策略</a:t>
            </a:r>
            <a:endParaRPr lang="en-US" sz="750" dirty="0"/>
          </a:p>
        </p:txBody>
      </p:sp>
      <p:sp>
        <p:nvSpPr>
          <p:cNvPr id="70" name="Shape 55"/>
          <p:cNvSpPr/>
          <p:nvPr/>
        </p:nvSpPr>
        <p:spPr>
          <a:xfrm>
            <a:off x="6446520" y="3694176"/>
            <a:ext cx="23774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dot"/>
          </a:ln>
        </p:spPr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6520" y="3822192"/>
            <a:ext cx="201168" cy="201168"/>
          </a:xfrm>
          <a:prstGeom prst="rect">
            <a:avLst/>
          </a:prstGeom>
        </p:spPr>
      </p:pic>
      <p:sp>
        <p:nvSpPr>
          <p:cNvPr id="72" name="Text 56"/>
          <p:cNvSpPr/>
          <p:nvPr/>
        </p:nvSpPr>
        <p:spPr>
          <a:xfrm>
            <a:off x="6720840" y="3785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Prompt-as-Code</a:t>
            </a:r>
            <a:endParaRPr lang="en-US" sz="1000" dirty="0"/>
          </a:p>
        </p:txBody>
      </p:sp>
      <p:sp>
        <p:nvSpPr>
          <p:cNvPr id="73" name="Text 57"/>
          <p:cNvSpPr/>
          <p:nvPr/>
        </p:nvSpPr>
        <p:spPr>
          <a:xfrm>
            <a:off x="6720840" y="3986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SKILL.md即Agent行为程序</a:t>
            </a:r>
            <a:endParaRPr lang="en-US" sz="7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知识按需加载，节省token</a:t>
            </a:r>
            <a:endParaRPr lang="en-US" sz="750" dirty="0"/>
          </a:p>
        </p:txBody>
      </p:sp>
      <p:sp>
        <p:nvSpPr>
          <p:cNvPr id="74" name="Shape 58"/>
          <p:cNvSpPr/>
          <p:nvPr/>
        </p:nvSpPr>
        <p:spPr>
          <a:xfrm>
            <a:off x="0" y="4407408"/>
            <a:ext cx="9144000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5" name="Shape 59"/>
          <p:cNvSpPr/>
          <p:nvPr/>
        </p:nvSpPr>
        <p:spPr>
          <a:xfrm>
            <a:off x="0" y="4407408"/>
            <a:ext cx="9144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6" name="Text 60"/>
          <p:cNvSpPr/>
          <p:nvPr/>
        </p:nvSpPr>
        <p:spPr>
          <a:xfrm>
            <a:off x="0" y="4462272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000" dirty="0"/>
          </a:p>
        </p:txBody>
      </p:sp>
      <p:sp>
        <p:nvSpPr>
          <p:cNvPr id="77" name="Text 61"/>
          <p:cNvSpPr/>
          <p:nvPr/>
        </p:nvSpPr>
        <p:spPr>
          <a:xfrm>
            <a:off x="0" y="4791456"/>
            <a:ext cx="152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个文件</a:t>
            </a:r>
            <a:endParaRPr lang="en-US" sz="850" dirty="0"/>
          </a:p>
        </p:txBody>
      </p:sp>
      <p:sp>
        <p:nvSpPr>
          <p:cNvPr id="78" name="Text 62"/>
          <p:cNvSpPr/>
          <p:nvPr/>
        </p:nvSpPr>
        <p:spPr>
          <a:xfrm>
            <a:off x="1524000" y="4462272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~7600</a:t>
            </a:r>
            <a:endParaRPr lang="en-US" sz="2000" dirty="0"/>
          </a:p>
        </p:txBody>
      </p:sp>
      <p:sp>
        <p:nvSpPr>
          <p:cNvPr id="79" name="Text 63"/>
          <p:cNvSpPr/>
          <p:nvPr/>
        </p:nvSpPr>
        <p:spPr>
          <a:xfrm>
            <a:off x="1524000" y="4791456"/>
            <a:ext cx="152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代码行</a:t>
            </a:r>
            <a:endParaRPr lang="en-US" sz="850" dirty="0"/>
          </a:p>
        </p:txBody>
      </p:sp>
      <p:sp>
        <p:nvSpPr>
          <p:cNvPr id="80" name="Shape 64"/>
          <p:cNvSpPr/>
          <p:nvPr/>
        </p:nvSpPr>
        <p:spPr>
          <a:xfrm>
            <a:off x="1524000" y="4517136"/>
            <a:ext cx="0" cy="438912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1" name="Text 65"/>
          <p:cNvSpPr/>
          <p:nvPr/>
        </p:nvSpPr>
        <p:spPr>
          <a:xfrm>
            <a:off x="3048000" y="4462272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82" name="Text 66"/>
          <p:cNvSpPr/>
          <p:nvPr/>
        </p:nvSpPr>
        <p:spPr>
          <a:xfrm>
            <a:off x="3048000" y="4791456"/>
            <a:ext cx="152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个知识文档</a:t>
            </a:r>
            <a:endParaRPr lang="en-US" sz="850" dirty="0"/>
          </a:p>
        </p:txBody>
      </p:sp>
      <p:sp>
        <p:nvSpPr>
          <p:cNvPr id="83" name="Shape 67"/>
          <p:cNvSpPr/>
          <p:nvPr/>
        </p:nvSpPr>
        <p:spPr>
          <a:xfrm>
            <a:off x="3048000" y="4517136"/>
            <a:ext cx="0" cy="438912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4" name="Text 68"/>
          <p:cNvSpPr/>
          <p:nvPr/>
        </p:nvSpPr>
        <p:spPr>
          <a:xfrm>
            <a:off x="4572000" y="4462272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85" name="Text 69"/>
          <p:cNvSpPr/>
          <p:nvPr/>
        </p:nvSpPr>
        <p:spPr>
          <a:xfrm>
            <a:off x="4572000" y="4791456"/>
            <a:ext cx="152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大故障场景</a:t>
            </a:r>
            <a:endParaRPr lang="en-US" sz="850" dirty="0"/>
          </a:p>
        </p:txBody>
      </p:sp>
      <p:sp>
        <p:nvSpPr>
          <p:cNvPr id="86" name="Shape 70"/>
          <p:cNvSpPr/>
          <p:nvPr/>
        </p:nvSpPr>
        <p:spPr>
          <a:xfrm>
            <a:off x="4572000" y="4517136"/>
            <a:ext cx="0" cy="438912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7" name="Text 71"/>
          <p:cNvSpPr/>
          <p:nvPr/>
        </p:nvSpPr>
        <p:spPr>
          <a:xfrm>
            <a:off x="6096000" y="4462272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88" name="Text 72"/>
          <p:cNvSpPr/>
          <p:nvPr/>
        </p:nvSpPr>
        <p:spPr>
          <a:xfrm>
            <a:off x="6096000" y="4791456"/>
            <a:ext cx="152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个诊断脚本</a:t>
            </a:r>
            <a:endParaRPr lang="en-US" sz="850" dirty="0"/>
          </a:p>
        </p:txBody>
      </p:sp>
      <p:sp>
        <p:nvSpPr>
          <p:cNvPr id="89" name="Shape 73"/>
          <p:cNvSpPr/>
          <p:nvPr/>
        </p:nvSpPr>
        <p:spPr>
          <a:xfrm>
            <a:off x="6096000" y="4517136"/>
            <a:ext cx="0" cy="438912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0" name="Text 74"/>
          <p:cNvSpPr/>
          <p:nvPr/>
        </p:nvSpPr>
        <p:spPr>
          <a:xfrm>
            <a:off x="7620000" y="4462272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91" name="Text 75"/>
          <p:cNvSpPr/>
          <p:nvPr/>
        </p:nvSpPr>
        <p:spPr>
          <a:xfrm>
            <a:off x="7620000" y="4791456"/>
            <a:ext cx="152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个评估用例</a:t>
            </a:r>
            <a:endParaRPr lang="en-US" sz="850" dirty="0"/>
          </a:p>
        </p:txBody>
      </p:sp>
      <p:sp>
        <p:nvSpPr>
          <p:cNvPr id="92" name="Shape 76"/>
          <p:cNvSpPr/>
          <p:nvPr/>
        </p:nvSpPr>
        <p:spPr>
          <a:xfrm>
            <a:off x="7620000" y="4517136"/>
            <a:ext cx="0" cy="438912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3" name="Shape 7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C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OS问题定位技能 — 方案设计与实现</dc:title>
  <dc:subject>PptxGenJS Presentation</dc:subject>
  <dc:creator>OS R&amp;D Efficiency</dc:creator>
  <cp:lastModifiedBy>OS R&amp;D Efficiency</cp:lastModifiedBy>
  <cp:revision>1</cp:revision>
  <dcterms:created xsi:type="dcterms:W3CDTF">2026-03-24T09:38:51Z</dcterms:created>
  <dcterms:modified xsi:type="dcterms:W3CDTF">2026-03-24T09:38:51Z</dcterms:modified>
</cp:coreProperties>
</file>